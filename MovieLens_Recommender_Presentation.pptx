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7" r:id="rId2"/>
    <p:sldId id="257" r:id="rId3"/>
    <p:sldId id="258" r:id="rId4"/>
    <p:sldId id="259" r:id="rId5"/>
    <p:sldId id="260" r:id="rId6"/>
    <p:sldId id="268" r:id="rId7"/>
    <p:sldId id="265" r:id="rId8"/>
    <p:sldId id="266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89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1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60115"/>
            <a:ext cx="946329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</a:rPr>
              <a:t>Movie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3445"/>
            <a:ext cx="80550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>
                <a:solidFill>
                  <a:srgbClr val="AACDFF"/>
                </a:solidFill>
              </a:rPr>
              <a:t>Machine Learning: </a:t>
            </a:r>
            <a:r>
              <a:rPr sz="3600" b="1" dirty="0">
                <a:solidFill>
                  <a:srgbClr val="AACDFF"/>
                </a:solidFill>
              </a:rPr>
              <a:t>Collaborative Filtering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958" y="2129776"/>
            <a:ext cx="10607040" cy="3960128"/>
          </a:xfrm>
          <a:prstGeom prst="roundRect">
            <a:avLst/>
          </a:prstGeom>
          <a:solidFill>
            <a:srgbClr val="192A46"/>
          </a:solidFill>
          <a:ln w="25400">
            <a:solidFill>
              <a:srgbClr val="41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5002" y="5374555"/>
            <a:ext cx="99669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chemeClr val="bg1"/>
                </a:solidFill>
              </a:rPr>
              <a:t>Value:</a:t>
            </a:r>
          </a:p>
          <a:p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choice overload • Increase engagement • Support retention</a:t>
            </a:r>
            <a:endParaRPr lang="en-US" sz="1600" dirty="0">
              <a:solidFill>
                <a:schemeClr val="bg1"/>
              </a:solidFill>
            </a:endParaRPr>
          </a:p>
          <a:p>
            <a:pPr algn="l"/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D2E1FF"/>
                </a:solidFill>
              </a:rPr>
              <a:t>Author: Rahaman Yusuf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291072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ACDFF"/>
                </a:solidFill>
              </a:rPr>
              <a:t>Flatiron School • Phase 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A2C824-09E2-D333-95A5-80613C49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408" y="2485289"/>
            <a:ext cx="3108295" cy="2982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10607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streaming platform product &amp; personalization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face choice overload. If they can't quickly find movies they'll enjoy, engagement drops and churn risk increases.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a user would rate unseen movies and return Top-5 personalized recommendations.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would be used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45262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“Recommended for You” row on homepage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Email/push recommendation campaigns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 discovery and retention initiatives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“latest small” (GroupLens)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ratings on a 0.5–5.0 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100,836 ratings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610 users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9,742 movies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3,683 tag applications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user–movie matrix is ~98.3% sparse. Sparsity makes similarity-based methods harder and motivates matrix factorization.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0" y="1097280"/>
            <a:ext cx="38404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63840" y="1691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86384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~1.7% of user×movie pairs have ratings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3749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Cold start for new users/movies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demographics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Offline error ≠ business KPIs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10607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(explicit feedback)</a:t>
            </a:r>
            <a:endParaRPr lang="en-US" sz="2000" dirty="0"/>
          </a:p>
        </p:txBody>
      </p:sp>
      <p:pic>
        <p:nvPicPr>
          <p:cNvPr id="6" name="Image 0" descr="/mnt/data/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80" y="1691640"/>
            <a:ext cx="701040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5989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Observation: ratings cluster around 3–4 stars (selection bias: users tend to rate movies they chose to watch).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9080" y="1097280"/>
            <a:ext cx="11835328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modeling: start simple → add complexity → tune → evaluate on holdout 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237744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BaselineOnly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user + movie biases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49174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77640" y="2011680"/>
            <a:ext cx="237744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6052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Item-item similarity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49174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0" y="2011680"/>
            <a:ext cx="237744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(MF)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5440" y="249174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16968" y="2052828"/>
            <a:ext cx="2377440" cy="960120"/>
          </a:xfrm>
          <a:prstGeom prst="round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SVD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2124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(CV)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factorization helps: learns global structure from sparse ratings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931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251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(holdout test)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CV on train for model selection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RMSE + MAE (error in “stars”)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10607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(lower is better)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5715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59893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is strong (bias effects explain much of rating behavior)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Tuning makes SVD competitive and stable on holdout (CV ≈ Test)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RMSE ≈ 0.88 ⇒ typical error ~0.9 stars on a 0.5–5 scale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pic>
        <p:nvPicPr>
          <p:cNvPr id="10" name="Picture 9" descr="model_performance_rmse_mae_zoo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775" y="1691640"/>
            <a:ext cx="727341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89775" y="5669280"/>
            <a:ext cx="72734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Note: RMSE and MAE use separate (zoomed) y-axes so small differences are easier to see. Lower is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Existing User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599: what they loved</a:t>
            </a:r>
            <a:endParaRPr lang="en-US" sz="1400" dirty="0"/>
          </a:p>
        </p:txBody>
      </p:sp>
      <p:pic>
        <p:nvPicPr>
          <p:cNvPr id="6" name="Image 0" descr="/mnt/data/user599_top_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27" y="1691640"/>
            <a:ext cx="10145346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999452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recommendations (example)</a:t>
            </a:r>
            <a:endParaRPr lang="en-US" sz="1400" dirty="0"/>
          </a:p>
        </p:txBody>
      </p:sp>
      <p:pic>
        <p:nvPicPr>
          <p:cNvPr id="9" name="Image 1" descr="/mnt/data/existing_user_re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74" y="4270416"/>
            <a:ext cx="10145346" cy="2240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644652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recommendations table shows an example user demo output from the notebook run.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3C15BA-E13B-E49C-826C-15158372241D}"/>
              </a:ext>
            </a:extLst>
          </p:cNvPr>
          <p:cNvSpPr/>
          <p:nvPr/>
        </p:nvSpPr>
        <p:spPr>
          <a:xfrm>
            <a:off x="402672" y="1005840"/>
            <a:ext cx="11027328" cy="2844707"/>
          </a:xfrm>
          <a:prstGeom prst="roundRect">
            <a:avLst/>
          </a:prstGeom>
          <a:noFill/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749523C-9947-3114-03DE-57CF141D1AAA}"/>
              </a:ext>
            </a:extLst>
          </p:cNvPr>
          <p:cNvSpPr/>
          <p:nvPr/>
        </p:nvSpPr>
        <p:spPr>
          <a:xfrm>
            <a:off x="402672" y="3931920"/>
            <a:ext cx="11027328" cy="2779776"/>
          </a:xfrm>
          <a:prstGeom prst="roundRect">
            <a:avLst/>
          </a:prstGeom>
          <a:noFill/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New User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2327" y="674894"/>
            <a:ext cx="10607040" cy="13019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7280" y="7680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collaborative filtering cannot personalize for a user with 0 ratings.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7280" y="104241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ask for 5–10 initial ratings (popular movies) → refit/update user profile → recommend Top-5.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7280" y="1310403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0 ratings are provided, recommend popular + highly-rated movies until feedback arrives.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9927" y="2048257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Top-5 (after 5 seed ratings)</a:t>
            </a:r>
            <a:endParaRPr lang="en-US" sz="1300" dirty="0"/>
          </a:p>
        </p:txBody>
      </p:sp>
      <p:pic>
        <p:nvPicPr>
          <p:cNvPr id="10" name="Image 0" descr="/mnt/data/new_user_re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86583"/>
            <a:ext cx="9747204" cy="215236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9927" y="4378926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cold start fallback (0 ratings)</a:t>
            </a:r>
            <a:endParaRPr lang="en-US" sz="1300" dirty="0"/>
          </a:p>
        </p:txBody>
      </p:sp>
      <p:pic>
        <p:nvPicPr>
          <p:cNvPr id="13" name="Image 1" descr="/mnt/data/fallback_re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664126"/>
            <a:ext cx="9747204" cy="20454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handling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2327" y="1097280"/>
            <a:ext cx="10607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770076"/>
            <a:ext cx="10058400" cy="1266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Sparse data limits personalization for low-activity users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demographics or rich item metadata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RMSE/MAE are offline metrics; production success is measured by CTR, watch-time, retention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6647" y="3154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(production-minded)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10058400" cy="1266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Hybrid recommender: combine CF with genres/tags for better cold start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ranking metrics (Precision@K / Recall@K / NDCG@K)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 A/B test to validate business lift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Incorporate implicit feedback (clicks, watch time) for scale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537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591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Rahaman Yusuf</cp:lastModifiedBy>
  <cp:revision>3</cp:revision>
  <dcterms:created xsi:type="dcterms:W3CDTF">2026-01-03T14:02:39Z</dcterms:created>
  <dcterms:modified xsi:type="dcterms:W3CDTF">2026-01-03T16:38:50Z</dcterms:modified>
</cp:coreProperties>
</file>
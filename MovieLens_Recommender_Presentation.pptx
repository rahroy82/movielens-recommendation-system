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67" r:id="rId2"/>
    <p:sldId id="257" r:id="rId3"/>
    <p:sldId id="258" r:id="rId4"/>
    <p:sldId id="259" r:id="rId5"/>
    <p:sldId id="260" r:id="rId6"/>
    <p:sldId id="268" r:id="rId7"/>
    <p:sldId id="265" r:id="rId8"/>
    <p:sldId id="266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1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089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1C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418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560115"/>
            <a:ext cx="9463296" cy="923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400" b="1" dirty="0">
                <a:solidFill>
                  <a:srgbClr val="FFFFFF"/>
                </a:solidFill>
              </a:rPr>
              <a:t>Movie Recommendation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83445"/>
            <a:ext cx="8055090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3600" b="1" dirty="0">
                <a:solidFill>
                  <a:srgbClr val="AACDFF"/>
                </a:solidFill>
              </a:rPr>
              <a:t>Machine Learning: </a:t>
            </a:r>
            <a:r>
              <a:rPr sz="3600" b="1" dirty="0">
                <a:solidFill>
                  <a:srgbClr val="AACDFF"/>
                </a:solidFill>
              </a:rPr>
              <a:t>Collaborative Filtering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9958" y="2129776"/>
            <a:ext cx="10607040" cy="3960128"/>
          </a:xfrm>
          <a:prstGeom prst="roundRect">
            <a:avLst/>
          </a:prstGeom>
          <a:solidFill>
            <a:srgbClr val="192A46"/>
          </a:solidFill>
          <a:ln w="25400">
            <a:solidFill>
              <a:srgbClr val="4187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25002" y="5374555"/>
            <a:ext cx="996696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chemeClr val="bg1"/>
                </a:solidFill>
              </a:rPr>
              <a:t>Value:</a:t>
            </a:r>
          </a:p>
          <a:p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choice overload • Increase engagement • Support retention</a:t>
            </a:r>
            <a:endParaRPr lang="en-US" sz="1600" dirty="0">
              <a:solidFill>
                <a:schemeClr val="bg1"/>
              </a:solidFill>
            </a:endParaRPr>
          </a:p>
          <a:p>
            <a:pPr algn="l"/>
            <a:endParaRPr sz="1600" dirty="0">
              <a:solidFill>
                <a:schemeClr val="bg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172200"/>
            <a:ext cx="12192000" cy="685800"/>
          </a:xfrm>
          <a:prstGeom prst="rect">
            <a:avLst/>
          </a:prstGeom>
          <a:solidFill>
            <a:srgbClr val="0C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291072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D2E1FF"/>
                </a:solidFill>
              </a:rPr>
              <a:t>Author: Rahaman Yusuf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291072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>
                <a:solidFill>
                  <a:srgbClr val="AACDFF"/>
                </a:solidFill>
              </a:rPr>
              <a:t>Flatiron School • Phase 4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A2C824-09E2-D333-95A5-80613C49C7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5408" y="2485289"/>
            <a:ext cx="3108295" cy="29821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097280"/>
            <a:ext cx="1060704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3258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164592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 streaming platform product &amp; personalization team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97280" y="2194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face choice overload. If they can't quickly find movies they'll enjoy, engagement drops and churn risk increases.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97280" y="32461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97280" y="356616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how a user would rate unseen movies and return Top-5 personalized recommendations.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9875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would be used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97280" y="452628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“Recommended for You” row on homepage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Email/push recommendation campaigns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Content discovery and retention initiatives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2960" y="65379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MovieLens recommender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097280"/>
            <a:ext cx="649224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32588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097280" y="164592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MovieLens “latest small” (GroupLens)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ratings on a 0.5–5.0 scale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97280" y="237744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facts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69748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100,836 ratings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610 users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9,742 movies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3,683 tag applications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97280" y="388620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420624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user–movie matrix is ~98.3% sparse. Sparsity makes similarity-based methods harder and motivates matrix factorization.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7589520" y="1097280"/>
            <a:ext cx="384048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863840" y="1325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Sparsity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863840" y="169164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B3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7863840" y="260604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~1.7% of user× movie pairs have ratings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863840" y="34290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863840" y="3749040"/>
            <a:ext cx="350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Cold start for new users/movies</a:t>
            </a:r>
            <a:endParaRPr lang="en-US" dirty="0"/>
          </a:p>
          <a:p>
            <a:pPr marL="203200" indent="-2032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demographics</a:t>
            </a:r>
            <a:endParaRPr lang="en-US" dirty="0"/>
          </a:p>
          <a:p>
            <a:pPr marL="203200" indent="-2032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Offline error ≠ business KPIs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2960" y="65379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understanding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097280"/>
            <a:ext cx="1060704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325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distribution (explicit feedback)</a:t>
            </a:r>
            <a:endParaRPr lang="en-US" sz="2400" dirty="0"/>
          </a:p>
        </p:txBody>
      </p:sp>
      <p:pic>
        <p:nvPicPr>
          <p:cNvPr id="6" name="Image 0" descr="/mnt/data/rating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1280" y="1691640"/>
            <a:ext cx="7010400" cy="4206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21280" y="5989320"/>
            <a:ext cx="72296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Observation: ratings cluster around 3–4 stars (selection bias: users tend to rate movies they chose to watch).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22960" y="65379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Approach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59080" y="1097280"/>
            <a:ext cx="11835328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325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modeling: start simple → add complexity → tune → evaluate on holdout test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2011680"/>
            <a:ext cx="23774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21762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BaselineOnly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8672" y="2514600"/>
            <a:ext cx="2356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+ user + movie biases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74720" y="2491740"/>
            <a:ext cx="50292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977640" y="2011680"/>
            <a:ext cx="23774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60520" y="21762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kNNBaseline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60520" y="2514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Item-item similarity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55080" y="2491740"/>
            <a:ext cx="50292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858000" y="2011680"/>
            <a:ext cx="2377440" cy="960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0" y="21762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(MF)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40880" y="2514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factors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235440" y="2491740"/>
            <a:ext cx="50292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716968" y="2052828"/>
            <a:ext cx="2377440" cy="960120"/>
          </a:xfrm>
          <a:prstGeom prst="roundRect">
            <a:avLst/>
          </a:prstGeom>
          <a:solidFill>
            <a:srgbClr val="0B3D91"/>
          </a:solidFill>
          <a:ln w="12700">
            <a:solidFill>
              <a:srgbClr val="0B3D9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21240" y="21762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SVD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921240" y="2514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(CV)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2918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factorization helps: learns global structure from sparse ratings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3931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plan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097280" y="4251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split (holdout test)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3-fold CV on train for model selection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 RMSE + MAE (error in “stars”)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22960" y="65379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3D9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1463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1097280"/>
            <a:ext cx="10607040" cy="56144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dirty="0"/>
          </a:p>
        </p:txBody>
      </p:sp>
      <p:sp>
        <p:nvSpPr>
          <p:cNvPr id="5" name="Text 3"/>
          <p:cNvSpPr/>
          <p:nvPr/>
        </p:nvSpPr>
        <p:spPr>
          <a:xfrm>
            <a:off x="1097280" y="1325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(lower is better)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097280" y="531266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00961" y="5620405"/>
            <a:ext cx="975471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Baseline is strong (bias effects explain much of rating behavior)</a:t>
            </a:r>
            <a:endParaRPr lang="en-US" dirty="0"/>
          </a:p>
          <a:p>
            <a:pPr marL="203200" indent="-2032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Tuning makes SVD competitive and stable on holdout (CV ≈ Test)</a:t>
            </a:r>
            <a:endParaRPr lang="en-US" dirty="0"/>
          </a:p>
          <a:p>
            <a:pPr marL="203200" indent="-203200">
              <a:buSzPct val="100000"/>
              <a:buChar char="•"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RMSE ≈ 0.88 ⇒ typical error ~0.9 stars on a 0.5–5 scale</a:t>
            </a: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822960" y="65379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000" dirty="0"/>
          </a:p>
        </p:txBody>
      </p:sp>
      <p:sp>
        <p:nvSpPr>
          <p:cNvPr id="11" name="TextBox 10"/>
          <p:cNvSpPr txBox="1"/>
          <p:nvPr/>
        </p:nvSpPr>
        <p:spPr>
          <a:xfrm>
            <a:off x="2489775" y="5669280"/>
            <a:ext cx="18473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408BEC-0549-2235-8947-1115ECBE4F8A}"/>
              </a:ext>
            </a:extLst>
          </p:cNvPr>
          <p:cNvSpPr txBox="1"/>
          <p:nvPr/>
        </p:nvSpPr>
        <p:spPr>
          <a:xfrm>
            <a:off x="2674505" y="6413016"/>
            <a:ext cx="62309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lang="en-US" sz="1400" dirty="0"/>
              <a:t>Note: RMSE (zoomed) y-axes so small differences are easier to see. Lower is better.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87C4B65-80B0-B2CA-DEAC-13C59D9C9A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4095" y="1638244"/>
            <a:ext cx="6067953" cy="39821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3D9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1463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Existing User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234440"/>
            <a:ext cx="1091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599: what they loved</a:t>
            </a:r>
            <a:endParaRPr lang="en-US" sz="1400" dirty="0"/>
          </a:p>
        </p:txBody>
      </p:sp>
      <p:pic>
        <p:nvPicPr>
          <p:cNvPr id="6" name="Image 0" descr="/mnt/data/user599_top_r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327" y="1691640"/>
            <a:ext cx="10145346" cy="2240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999452"/>
            <a:ext cx="1091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Top-5 recommendations (example)</a:t>
            </a:r>
            <a:endParaRPr lang="en-US" sz="1400" dirty="0"/>
          </a:p>
        </p:txBody>
      </p:sp>
      <p:pic>
        <p:nvPicPr>
          <p:cNvPr id="9" name="Image 1" descr="/mnt/data/existing_user_re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174" y="4270416"/>
            <a:ext cx="10145346" cy="22402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6446520"/>
            <a:ext cx="10607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recommendations table shows an example user demo output from the notebook run.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23C15BA-E13B-E49C-826C-15158372241D}"/>
              </a:ext>
            </a:extLst>
          </p:cNvPr>
          <p:cNvSpPr/>
          <p:nvPr/>
        </p:nvSpPr>
        <p:spPr>
          <a:xfrm>
            <a:off x="402672" y="1005840"/>
            <a:ext cx="11027328" cy="2844707"/>
          </a:xfrm>
          <a:prstGeom prst="roundRect">
            <a:avLst/>
          </a:prstGeom>
          <a:noFill/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7749523C-9947-3114-03DE-57CF141D1AAA}"/>
              </a:ext>
            </a:extLst>
          </p:cNvPr>
          <p:cNvSpPr/>
          <p:nvPr/>
        </p:nvSpPr>
        <p:spPr>
          <a:xfrm>
            <a:off x="402672" y="3931920"/>
            <a:ext cx="11027328" cy="2779776"/>
          </a:xfrm>
          <a:prstGeom prst="roundRect">
            <a:avLst/>
          </a:prstGeom>
          <a:noFill/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3D9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1463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Start: New User Strategy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92327" y="674894"/>
            <a:ext cx="10607040" cy="130197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097280" y="76809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collaborative filtering cannot personalize for a user with 0 ratings.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097280" y="104241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ask for 5–10 initial ratings (popular movies) → refit/update user profile → recommend Top-5.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97280" y="1310403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if 0 ratings are provided, recommend popular + highly-rated movies until feedback arrives.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39927" y="2048257"/>
            <a:ext cx="1091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user Top-5 (after 5 seed ratings)</a:t>
            </a:r>
            <a:endParaRPr lang="en-US" sz="1300" dirty="0"/>
          </a:p>
        </p:txBody>
      </p:sp>
      <p:pic>
        <p:nvPicPr>
          <p:cNvPr id="10" name="Image 0" descr="/mnt/data/new_user_re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386583"/>
            <a:ext cx="9747204" cy="2152363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39927" y="4378926"/>
            <a:ext cx="1091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cold start fallback (0 ratings)</a:t>
            </a:r>
            <a:endParaRPr lang="en-US" sz="1300" dirty="0"/>
          </a:p>
        </p:txBody>
      </p:sp>
      <p:pic>
        <p:nvPicPr>
          <p:cNvPr id="13" name="Image 1" descr="/mnt/data/fallback_re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664126"/>
            <a:ext cx="9747204" cy="204546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22960" y="65379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 handling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3D9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92327" y="1097280"/>
            <a:ext cx="1060704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1325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7280" y="1770076"/>
            <a:ext cx="10058400" cy="12667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Sparse data limits personalization for low-activity users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demographics or rich item metadata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RMSE/MAE are offline metrics; production success is measured by CTR, watch-time, retention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66647" y="31546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(production-minded)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97280" y="3657600"/>
            <a:ext cx="10058400" cy="12667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Hybrid recommender: combine CF with genres/tags for better cold start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 ranking metrics (Precision@K / Recall@K / NDCG@K)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Online A/B test to validate business lift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Incorporate implicit feedback (clicks, watch time) for scale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4983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65379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</TotalTime>
  <Words>587</Words>
  <Application>Microsoft Office PowerPoint</Application>
  <PresentationFormat>Widescreen</PresentationFormat>
  <Paragraphs>96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Rahaman Yusuf</cp:lastModifiedBy>
  <cp:revision>6</cp:revision>
  <dcterms:created xsi:type="dcterms:W3CDTF">2026-01-03T14:02:39Z</dcterms:created>
  <dcterms:modified xsi:type="dcterms:W3CDTF">2026-01-08T01:23:16Z</dcterms:modified>
</cp:coreProperties>
</file>